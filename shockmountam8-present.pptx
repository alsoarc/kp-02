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E20485-695F-41B6-92CE-28A4D09E0AE6}" v="763" dt="2025-12-13T01:58:08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60046" y="1271996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ru-RU" sz="6600" cap="all" dirty="0">
                <a:latin typeface="Century Gothic"/>
                <a:ea typeface="+mj-lt"/>
                <a:cs typeface="+mj-lt"/>
              </a:rPr>
              <a:t>КУРСОВОЙ ПРОЕКТ</a:t>
            </a:r>
            <a:endParaRPr lang="ru-RU" sz="6600" dirty="0">
              <a:latin typeface="Century Gothic"/>
            </a:endParaRPr>
          </a:p>
          <a:p>
            <a:pPr algn="l"/>
            <a:r>
              <a:rPr lang="ru-RU" sz="6600" cap="all" dirty="0">
                <a:highlight>
                  <a:srgbClr val="FFFFFF"/>
                </a:highlight>
                <a:latin typeface="Century Gothic"/>
                <a:ea typeface="+mj-lt"/>
                <a:cs typeface="+mj-lt"/>
              </a:rPr>
              <a:t>Разработка и создание ПАУКА для микрофона</a:t>
            </a:r>
            <a:r>
              <a:rPr lang="ru-RU" sz="6600" dirty="0">
                <a:highlight>
                  <a:srgbClr val="FFFFFF"/>
                </a:highlight>
                <a:latin typeface="Century Gothic"/>
                <a:ea typeface="+mj-lt"/>
                <a:cs typeface="+mj-lt"/>
              </a:rPr>
              <a:t> </a:t>
            </a:r>
            <a:endParaRPr lang="ru-RU" sz="6600" dirty="0">
              <a:latin typeface="Century Gothic"/>
            </a:endParaRPr>
          </a:p>
          <a:p>
            <a:pPr algn="l"/>
            <a:endParaRPr lang="ru-RU" sz="6600" dirty="0">
              <a:latin typeface="Century Gothic"/>
            </a:endParaRP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F42CD-7CD4-027E-CF00-88CB18F70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501651"/>
            <a:ext cx="4414848" cy="17162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err="1">
                <a:latin typeface="Century Gothic"/>
              </a:rPr>
              <a:t>Введение</a:t>
            </a:r>
            <a:endParaRPr lang="en-US" sz="5600">
              <a:latin typeface="Century Gothic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Изображение выглядит как Аксессуары для повседневного ношения, инструмент, ремень, чех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ADDB4C-CF2E-F909-B384-3C8F955EB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035" b="5035"/>
          <a:stretch>
            <a:fillRect/>
          </a:stretch>
        </p:blipFill>
        <p:spPr>
          <a:xfrm>
            <a:off x="279143" y="299509"/>
            <a:ext cx="5221625" cy="625898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B674355-F8F2-23FF-E8F6-74509A662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Актуальность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проекта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связана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с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тем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,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что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для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качественной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записи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требуется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минимизировать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передачу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вибраций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на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микрофон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.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Универсальные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пауки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плохо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подходят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под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Fifine AM8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из-за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его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сложной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геометрии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.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Поэтому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требуется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индивидуальная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конструкция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,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которая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обеспечит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точную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посадку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и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виброизоляцию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.</a:t>
            </a:r>
          </a:p>
          <a:p>
            <a:pPr marL="571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     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Целью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данного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курсового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проекта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является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разработка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и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проектирование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паука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для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микрофона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Fifine AM8 с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использованием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технологии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FDM-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печати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,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обеспечивающего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надежное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крепление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,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амортизацию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вибраций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и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эргономичность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конструкции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. </a:t>
            </a:r>
            <a:endParaRPr lang="en-US" sz="1700">
              <a:solidFill>
                <a:schemeClr val="tx1">
                  <a:alpha val="80000"/>
                </a:schemeClr>
              </a:solidFill>
              <a:latin typeface="Century Gothic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4DEBF-C997-2785-ADC3-9A28BDC2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741391"/>
            <a:ext cx="5479719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latin typeface="Century Gothic"/>
              </a:rPr>
              <a:t>1.1. </a:t>
            </a:r>
            <a:r>
              <a:rPr lang="en-US" err="1">
                <a:latin typeface="Century Gothic"/>
              </a:rPr>
              <a:t>Процесс</a:t>
            </a:r>
            <a:r>
              <a:rPr lang="en-US" dirty="0">
                <a:latin typeface="Century Gothic"/>
              </a:rPr>
              <a:t> FDM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8D36C4-06A1-6093-0E96-43CC88C32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6692" y="2533476"/>
            <a:ext cx="5479719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err="1">
                <a:latin typeface="Century Gothic"/>
              </a:rPr>
              <a:t>Технология</a:t>
            </a:r>
            <a:r>
              <a:rPr lang="en-US" sz="2000" dirty="0">
                <a:latin typeface="Century Gothic"/>
              </a:rPr>
              <a:t> FDM — </a:t>
            </a:r>
            <a:r>
              <a:rPr lang="en-US" sz="2000" err="1">
                <a:latin typeface="Century Gothic"/>
              </a:rPr>
              <a:t>это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послойное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наплавление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расплавленного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термопластика</a:t>
            </a:r>
            <a:r>
              <a:rPr lang="en-US" sz="20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err="1">
                <a:latin typeface="Century Gothic"/>
              </a:rPr>
              <a:t>Выбор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этой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технологии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обусловлен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тем</a:t>
            </a:r>
            <a:r>
              <a:rPr lang="en-US" sz="2000" dirty="0">
                <a:latin typeface="Century Gothic"/>
              </a:rPr>
              <a:t>, </a:t>
            </a:r>
            <a:r>
              <a:rPr lang="en-US" sz="2000" err="1">
                <a:latin typeface="Century Gothic"/>
              </a:rPr>
              <a:t>что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она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позволяет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быстро</a:t>
            </a:r>
            <a:r>
              <a:rPr lang="en-US" sz="2000" dirty="0">
                <a:latin typeface="Century Gothic"/>
              </a:rPr>
              <a:t> и </a:t>
            </a:r>
            <a:r>
              <a:rPr lang="en-US" sz="2000" err="1">
                <a:latin typeface="Century Gothic"/>
              </a:rPr>
              <a:t>недорого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создавать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индивидуальные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аксессуары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любой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геометрии</a:t>
            </a:r>
            <a:r>
              <a:rPr lang="en-US" sz="20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5" name="Объект 4" descr="Изображение выглядит как камера, Камеры и оптика, Оптический инструмент, маши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0EE9CB-3801-0590-B917-F0AA2ECC1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339" r="-2" b="3638"/>
          <a:stretch>
            <a:fillRect/>
          </a:stretch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695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59D5D-C875-1686-8304-2CE060A1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46" y="637762"/>
            <a:ext cx="3893481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chemeClr val="bg1"/>
                </a:solidFill>
                <a:latin typeface="Century Gothic"/>
              </a:rPr>
              <a:t>1.2. </a:t>
            </a:r>
            <a:r>
              <a:rPr lang="en-US" sz="4400" kern="1200" err="1">
                <a:solidFill>
                  <a:schemeClr val="bg1"/>
                </a:solidFill>
                <a:latin typeface="Century Gothic"/>
              </a:rPr>
              <a:t>Материалы</a:t>
            </a:r>
            <a:r>
              <a:rPr lang="en-US" sz="4400" kern="1200" dirty="0">
                <a:solidFill>
                  <a:schemeClr val="bg1"/>
                </a:solidFill>
                <a:latin typeface="Century Gothic"/>
              </a:rPr>
              <a:t> FDM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5817C1-5666-6080-3341-DB2F8D78C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4775" y="637762"/>
            <a:ext cx="560058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Для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FDM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применяется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широкий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набор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материалов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.</a:t>
            </a:r>
          </a:p>
          <a:p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Для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моего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проекта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важны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были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ударная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вязкость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,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межслойная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прочность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и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стабильность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.</a:t>
            </a:r>
          </a:p>
          <a:p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Эти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критерии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позже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привели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к </a:t>
            </a:r>
            <a:r>
              <a:rPr lang="en-US" sz="3200" kern="1200" err="1">
                <a:solidFill>
                  <a:schemeClr val="tx1"/>
                </a:solidFill>
                <a:latin typeface="Century Gothic"/>
              </a:rPr>
              <a:t>выбору</a:t>
            </a:r>
            <a:r>
              <a:rPr lang="en-US" sz="3200" kern="1200" dirty="0">
                <a:solidFill>
                  <a:schemeClr val="tx1"/>
                </a:solidFill>
                <a:latin typeface="Century Gothic"/>
              </a:rPr>
              <a:t> PETG.</a:t>
            </a:r>
          </a:p>
          <a:p>
            <a:endParaRPr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79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0BCF0-EBCA-9585-AE02-2B9D36C3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3F3F3F"/>
                </a:solidFill>
                <a:latin typeface="Century Gothic"/>
              </a:rPr>
              <a:t>1.3. Преимущества и недостатки </a:t>
            </a:r>
            <a:r>
              <a:rPr lang="en-US" sz="3600" dirty="0">
                <a:solidFill>
                  <a:srgbClr val="3F3F3F"/>
                </a:solidFill>
                <a:latin typeface="Century Gothic"/>
              </a:rPr>
              <a:t>FDM</a:t>
            </a:r>
            <a:endParaRPr lang="ru-RU" sz="3600" dirty="0">
              <a:solidFill>
                <a:srgbClr val="3F3F3F"/>
              </a:solidFill>
              <a:latin typeface="Century Gothic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B256D7-C7DB-4EFC-8BBF-8D2741FA4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Century Gothic"/>
                <a:ea typeface="+mn-lt"/>
                <a:cs typeface="+mn-lt"/>
              </a:rPr>
              <a:t>Плюсы технологии: </a:t>
            </a:r>
            <a:endParaRPr lang="ru-RU" sz="2000" dirty="0">
              <a:latin typeface="Century Gothic"/>
            </a:endParaRPr>
          </a:p>
          <a:p>
            <a:r>
              <a:rPr lang="ru-RU" sz="2000" dirty="0">
                <a:latin typeface="Century Gothic"/>
                <a:ea typeface="+mn-lt"/>
                <a:cs typeface="+mn-lt"/>
              </a:rPr>
              <a:t>доступность</a:t>
            </a:r>
            <a:endParaRPr lang="ru-RU" sz="2000" dirty="0">
              <a:latin typeface="Century Gothic"/>
            </a:endParaRPr>
          </a:p>
          <a:p>
            <a:r>
              <a:rPr lang="ru-RU" sz="2000" dirty="0">
                <a:latin typeface="Century Gothic"/>
                <a:ea typeface="+mn-lt"/>
                <a:cs typeface="+mn-lt"/>
              </a:rPr>
              <a:t>скорость изготовления</a:t>
            </a:r>
          </a:p>
          <a:p>
            <a:r>
              <a:rPr lang="ru-RU" sz="2000" dirty="0">
                <a:latin typeface="Century Gothic"/>
                <a:ea typeface="+mn-lt"/>
                <a:cs typeface="+mn-lt"/>
              </a:rPr>
              <a:t> возможность точной подгонки под конкретный объект.</a:t>
            </a:r>
            <a:endParaRPr lang="ru-RU" sz="2000" dirty="0">
              <a:latin typeface="Century Gothic"/>
            </a:endParaRPr>
          </a:p>
          <a:p>
            <a:endParaRPr lang="ru-RU" sz="2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BC7507-AB0A-DDA5-6C72-CB0D589DD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7731" y="2888250"/>
            <a:ext cx="4292594" cy="29597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entury Gothic"/>
                <a:ea typeface="+mn-lt"/>
                <a:cs typeface="+mn-lt"/>
              </a:rPr>
              <a:t>Минусы: </a:t>
            </a:r>
          </a:p>
          <a:p>
            <a:r>
              <a:rPr lang="ru-RU" sz="2000" dirty="0">
                <a:latin typeface="Century Gothic"/>
                <a:ea typeface="+mn-lt"/>
                <a:cs typeface="+mn-lt"/>
              </a:rPr>
              <a:t>слоистость поверхности и сниженная прочность вдоль оси роста.</a:t>
            </a: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84086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1B4AB-7FCF-5A85-136E-6C770630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latin typeface="Century Gothic"/>
              </a:rPr>
              <a:t>1.4. </a:t>
            </a:r>
            <a:r>
              <a:rPr lang="en-US" dirty="0" err="1">
                <a:latin typeface="Century Gothic"/>
              </a:rPr>
              <a:t>Примеры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изделий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911034-6ECC-A3F1-5080-C6F589585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/>
              </a:rPr>
              <a:t>FDM </a:t>
            </a:r>
            <a:r>
              <a:rPr lang="en-US" sz="2000" err="1">
                <a:latin typeface="Century Gothic"/>
              </a:rPr>
              <a:t>широко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применяется</a:t>
            </a:r>
            <a:r>
              <a:rPr lang="en-US" sz="2000" dirty="0">
                <a:latin typeface="Century Gothic"/>
              </a:rPr>
              <a:t> в </a:t>
            </a:r>
            <a:r>
              <a:rPr lang="en-US" sz="2000" err="1">
                <a:latin typeface="Century Gothic"/>
              </a:rPr>
              <a:t>инженерных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задачах</a:t>
            </a:r>
            <a:r>
              <a:rPr lang="en-US" sz="2000" dirty="0">
                <a:latin typeface="Century Gothic"/>
              </a:rPr>
              <a:t>, в </a:t>
            </a:r>
            <a:r>
              <a:rPr lang="en-US" sz="2000" err="1">
                <a:latin typeface="Century Gothic"/>
              </a:rPr>
              <a:t>том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числе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для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звукотехнических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аксессуаров</a:t>
            </a:r>
            <a:r>
              <a:rPr lang="en-US" sz="2000" dirty="0">
                <a:latin typeface="Century Gothic"/>
              </a:rPr>
              <a:t> — </a:t>
            </a:r>
            <a:r>
              <a:rPr lang="en-US" sz="2000" err="1">
                <a:latin typeface="Century Gothic"/>
              </a:rPr>
              <a:t>держателей</a:t>
            </a:r>
            <a:r>
              <a:rPr lang="en-US" sz="2000" dirty="0">
                <a:latin typeface="Century Gothic"/>
              </a:rPr>
              <a:t>, </a:t>
            </a:r>
            <a:r>
              <a:rPr lang="en-US" sz="2000" err="1">
                <a:latin typeface="Century Gothic"/>
              </a:rPr>
              <a:t>демпферов</a:t>
            </a:r>
            <a:r>
              <a:rPr lang="en-US" sz="2000" dirty="0">
                <a:latin typeface="Century Gothic"/>
              </a:rPr>
              <a:t> и </a:t>
            </a:r>
            <a:r>
              <a:rPr lang="en-US" sz="2000" err="1">
                <a:latin typeface="Century Gothic"/>
              </a:rPr>
              <a:t>кронштейнов</a:t>
            </a:r>
            <a:r>
              <a:rPr lang="en-US" sz="20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err="1">
                <a:latin typeface="Century Gothic"/>
              </a:rPr>
              <a:t>Это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подтверждает</a:t>
            </a:r>
            <a:r>
              <a:rPr lang="en-US" sz="2000" dirty="0">
                <a:latin typeface="Century Gothic"/>
              </a:rPr>
              <a:t>, </a:t>
            </a:r>
            <a:r>
              <a:rPr lang="en-US" sz="2000" err="1">
                <a:latin typeface="Century Gothic"/>
              </a:rPr>
              <a:t>что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выбранная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технология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подходит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для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создания</a:t>
            </a:r>
            <a:r>
              <a:rPr lang="en-US" sz="2000" dirty="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паука</a:t>
            </a:r>
            <a:r>
              <a:rPr lang="en-US" sz="20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5" name="Рисунок 4" descr="Изображение выглядит как инструмент, часы, офисные принадлежности, Бытовая техн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2386B8-2A37-2593-CFF0-E34CC95FCC5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-1" b="3479"/>
          <a:stretch>
            <a:fillRect/>
          </a:stretch>
        </p:blipFill>
        <p:spPr>
          <a:xfrm>
            <a:off x="5086726" y="10"/>
            <a:ext cx="7105273" cy="6857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5AFD70F-20E3-55D2-E154-7D4FACFBB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FBDB812-268E-7EC5-B48A-752271816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A30E18-AA70-D998-AAFC-727CB0367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6022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57F3C-0F97-B08E-16D6-EDE86CAC1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>
                <a:latin typeface="Century Gothic"/>
              </a:rPr>
              <a:t>1.5. </a:t>
            </a:r>
            <a:r>
              <a:rPr lang="en-US" sz="3400" err="1">
                <a:latin typeface="Century Gothic"/>
              </a:rPr>
              <a:t>Оборудование</a:t>
            </a:r>
            <a:r>
              <a:rPr lang="en-US" sz="3400" dirty="0">
                <a:latin typeface="Century Gothic"/>
              </a:rPr>
              <a:t> FDM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286A71-8A5F-7254-E7D1-CDF27F259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500" err="1">
                <a:latin typeface="Century Gothic"/>
              </a:rPr>
              <a:t>Используемое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оборудование</a:t>
            </a:r>
            <a:r>
              <a:rPr lang="en-US" sz="2500" dirty="0">
                <a:latin typeface="Century Gothic"/>
              </a:rPr>
              <a:t> — FDM-</a:t>
            </a:r>
            <a:r>
              <a:rPr lang="en-US" sz="2500" err="1">
                <a:latin typeface="Century Gothic"/>
              </a:rPr>
              <a:t>принтер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Elegoo</a:t>
            </a:r>
            <a:r>
              <a:rPr lang="en-US" sz="2500" dirty="0">
                <a:latin typeface="Century Gothic"/>
              </a:rPr>
              <a:t> Neptune 4 Pro.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500" err="1">
                <a:latin typeface="Century Gothic"/>
              </a:rPr>
              <a:t>Он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обеспечивает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высокую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скорость</a:t>
            </a:r>
            <a:r>
              <a:rPr lang="en-US" sz="2500" dirty="0">
                <a:latin typeface="Century Gothic"/>
              </a:rPr>
              <a:t>, </a:t>
            </a:r>
            <a:r>
              <a:rPr lang="en-US" sz="2500" err="1">
                <a:latin typeface="Century Gothic"/>
              </a:rPr>
              <a:t>стабильность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подачи</a:t>
            </a:r>
            <a:r>
              <a:rPr lang="en-US" sz="2500" dirty="0">
                <a:latin typeface="Century Gothic"/>
              </a:rPr>
              <a:t> и </a:t>
            </a:r>
            <a:r>
              <a:rPr lang="en-US" sz="2500" err="1">
                <a:latin typeface="Century Gothic"/>
              </a:rPr>
              <a:t>точность</a:t>
            </a:r>
            <a:r>
              <a:rPr lang="en-US" sz="2500" dirty="0">
                <a:latin typeface="Century Gothic"/>
              </a:rPr>
              <a:t>, </a:t>
            </a:r>
            <a:r>
              <a:rPr lang="en-US" sz="2500" err="1">
                <a:latin typeface="Century Gothic"/>
              </a:rPr>
              <a:t>что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важно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для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посадочных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узлов</a:t>
            </a:r>
            <a:r>
              <a:rPr lang="en-US" sz="25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pic>
        <p:nvPicPr>
          <p:cNvPr id="5" name="Объект 4" descr="Изображение выглядит как машина, в помещении, Верстак, офисные принадлежност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97C3DD-DC0C-F77B-9A7E-A5A1827D7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748" r="2" b="1325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746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226B9-1D35-D45C-379D-AB9758F0D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latin typeface="Century Gothic"/>
              </a:rPr>
              <a:t>2.1. </a:t>
            </a:r>
            <a:r>
              <a:rPr lang="en-US" sz="5400" err="1">
                <a:latin typeface="Century Gothic"/>
              </a:rPr>
              <a:t>Описание</a:t>
            </a:r>
            <a:r>
              <a:rPr lang="en-US" sz="5400" dirty="0">
                <a:latin typeface="Century Gothic"/>
              </a:rPr>
              <a:t> </a:t>
            </a:r>
            <a:r>
              <a:rPr lang="en-US" sz="5400" err="1">
                <a:latin typeface="Century Gothic"/>
              </a:rPr>
              <a:t>изделия</a:t>
            </a:r>
            <a:endParaRPr lang="en-US" sz="5400">
              <a:latin typeface="Century Gothic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64934F-7FD8-78E1-DCC8-0F4456E2E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800" err="1">
                <a:latin typeface="Century Gothic"/>
              </a:rPr>
              <a:t>Паук</a:t>
            </a:r>
            <a:r>
              <a:rPr lang="en-US" sz="2800" dirty="0">
                <a:latin typeface="Century Gothic"/>
              </a:rPr>
              <a:t> (shock mount) — </a:t>
            </a:r>
            <a:r>
              <a:rPr lang="en-US" sz="2800" err="1">
                <a:latin typeface="Century Gothic"/>
              </a:rPr>
              <a:t>это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амортизирующий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держатель</a:t>
            </a:r>
            <a:r>
              <a:rPr lang="en-US" sz="2800" dirty="0">
                <a:latin typeface="Century Gothic"/>
              </a:rPr>
              <a:t>, </a:t>
            </a:r>
            <a:r>
              <a:rPr lang="en-US" sz="2800" err="1">
                <a:latin typeface="Century Gothic"/>
              </a:rPr>
              <a:t>уменьшающий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передачу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вибраций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на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микрофон</a:t>
            </a:r>
            <a:r>
              <a:rPr lang="en-US" sz="28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err="1">
                <a:latin typeface="Century Gothic"/>
              </a:rPr>
              <a:t>Основная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задача</a:t>
            </a:r>
            <a:r>
              <a:rPr lang="en-US" sz="2800" dirty="0">
                <a:latin typeface="Century Gothic"/>
              </a:rPr>
              <a:t> — </a:t>
            </a:r>
            <a:r>
              <a:rPr lang="en-US" sz="2800" err="1">
                <a:latin typeface="Century Gothic"/>
              </a:rPr>
              <a:t>гашение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механических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колебаний</a:t>
            </a:r>
            <a:r>
              <a:rPr lang="en-US" sz="2800" dirty="0">
                <a:latin typeface="Century Gothic"/>
              </a:rPr>
              <a:t> и </a:t>
            </a:r>
            <a:r>
              <a:rPr lang="en-US" sz="2800" err="1">
                <a:latin typeface="Century Gothic"/>
              </a:rPr>
              <a:t>стабильная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фиксация</a:t>
            </a:r>
            <a:r>
              <a:rPr lang="en-US" sz="2800" dirty="0">
                <a:latin typeface="Century Gothic"/>
              </a:rPr>
              <a:t> AM8.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5" name="Объект 4" descr="Изображение выглядит как микро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29F9C3-B4DE-8FC5-66A6-939697B2D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792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3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785D7-EE98-77AA-8346-200129D1B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27" y="548640"/>
            <a:ext cx="4440164" cy="5431536"/>
          </a:xfrm>
        </p:spPr>
        <p:txBody>
          <a:bodyPr>
            <a:normAutofit/>
          </a:bodyPr>
          <a:lstStyle/>
          <a:p>
            <a:r>
              <a:rPr lang="ru-RU" sz="3400" dirty="0">
                <a:latin typeface="Century Gothic"/>
              </a:rPr>
              <a:t>2.1.1. Функциональные требования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A7A9B5-391A-122E-2C2B-3C70A9A6D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entury Gothic"/>
                <a:ea typeface="+mn-lt"/>
                <a:cs typeface="+mn-lt"/>
              </a:rPr>
              <a:t>Были определены ключевые требования:</a:t>
            </a:r>
            <a:endParaRPr lang="ru-RU">
              <a:latin typeface="Century Gothic"/>
            </a:endParaRPr>
          </a:p>
          <a:p>
            <a:r>
              <a:rPr lang="ru-RU" dirty="0">
                <a:latin typeface="Century Gothic"/>
                <a:ea typeface="+mn-lt"/>
                <a:cs typeface="+mn-lt"/>
              </a:rPr>
              <a:t> точная посадка под геометрию </a:t>
            </a:r>
            <a:r>
              <a:rPr lang="en-US" dirty="0">
                <a:latin typeface="Century Gothic"/>
                <a:ea typeface="+mn-lt"/>
                <a:cs typeface="+mn-lt"/>
              </a:rPr>
              <a:t>AM</a:t>
            </a:r>
            <a:r>
              <a:rPr lang="ru-RU" dirty="0">
                <a:latin typeface="Century Gothic"/>
                <a:ea typeface="+mn-lt"/>
                <a:cs typeface="+mn-lt"/>
              </a:rPr>
              <a:t>8,</a:t>
            </a:r>
            <a:endParaRPr lang="ru-RU">
              <a:latin typeface="Century Gothic"/>
            </a:endParaRPr>
          </a:p>
          <a:p>
            <a:r>
              <a:rPr lang="ru-RU" dirty="0">
                <a:latin typeface="Century Gothic"/>
                <a:ea typeface="+mn-lt"/>
                <a:cs typeface="+mn-lt"/>
              </a:rPr>
              <a:t> устойчивость к динамическим нагрузкам,</a:t>
            </a:r>
            <a:endParaRPr lang="ru-RU">
              <a:latin typeface="Century Gothic"/>
            </a:endParaRPr>
          </a:p>
          <a:p>
            <a:r>
              <a:rPr lang="ru-RU" dirty="0">
                <a:latin typeface="Century Gothic"/>
                <a:ea typeface="+mn-lt"/>
                <a:cs typeface="+mn-lt"/>
              </a:rPr>
              <a:t>удобный монтаж без инструмента,</a:t>
            </a:r>
            <a:endParaRPr lang="ru-RU">
              <a:latin typeface="Century Gothic"/>
            </a:endParaRPr>
          </a:p>
          <a:p>
            <a:r>
              <a:rPr lang="ru-RU" dirty="0">
                <a:latin typeface="Century Gothic"/>
                <a:ea typeface="+mn-lt"/>
                <a:cs typeface="+mn-lt"/>
              </a:rPr>
              <a:t>технологичность конструкции под </a:t>
            </a:r>
            <a:r>
              <a:rPr lang="en-US" dirty="0">
                <a:latin typeface="Century Gothic"/>
                <a:ea typeface="+mn-lt"/>
                <a:cs typeface="+mn-lt"/>
              </a:rPr>
              <a:t>FDM</a:t>
            </a:r>
            <a:r>
              <a:rPr lang="ru-RU" dirty="0">
                <a:latin typeface="Century Gothic"/>
                <a:ea typeface="+mn-lt"/>
                <a:cs typeface="+mn-lt"/>
              </a:rPr>
              <a:t>-печать.</a:t>
            </a:r>
            <a:endParaRPr lang="ru-RU" dirty="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61172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3">
            <a:extLst>
              <a:ext uri="{FF2B5EF4-FFF2-40B4-BE49-F238E27FC236}">
                <a16:creationId xmlns:a16="http://schemas.microsoft.com/office/drawing/2014/main" id="{B23FE733-F95B-4DF6-AFC5-BEEB3577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25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6852464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F87B8-1616-E087-146F-26CAFAF3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978408"/>
            <a:ext cx="6007608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latin typeface="Century Gothic"/>
              </a:rPr>
              <a:t>2.1.2. </a:t>
            </a:r>
            <a:r>
              <a:rPr lang="en-US" sz="2800" err="1">
                <a:latin typeface="Century Gothic"/>
              </a:rPr>
              <a:t>Анализ</a:t>
            </a:r>
            <a:r>
              <a:rPr lang="en-US" sz="2800" dirty="0">
                <a:latin typeface="Century Gothic"/>
              </a:rPr>
              <a:t> </a:t>
            </a:r>
            <a:r>
              <a:rPr lang="en-US" sz="2800" err="1">
                <a:latin typeface="Century Gothic"/>
              </a:rPr>
              <a:t>аналогов</a:t>
            </a:r>
            <a:endParaRPr lang="en-US" sz="2800">
              <a:latin typeface="Century Gothic"/>
            </a:endParaRPr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29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4" y="2121408"/>
            <a:ext cx="582472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B3FF0E-6290-76D9-9F2F-1D3414459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4" y="2359152"/>
            <a:ext cx="6007608" cy="3429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err="1">
                <a:latin typeface="Century Gothic"/>
              </a:rPr>
              <a:t>Аналоги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на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рынке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оказались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неполностью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совместимыми</a:t>
            </a:r>
            <a:r>
              <a:rPr lang="en-US" sz="2200" dirty="0">
                <a:latin typeface="Century Gothic"/>
              </a:rPr>
              <a:t> с AM8: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err="1">
                <a:latin typeface="Century Gothic"/>
              </a:rPr>
              <a:t>корпус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микрофона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нестандартный</a:t>
            </a:r>
            <a:r>
              <a:rPr lang="en-US" sz="2200" dirty="0">
                <a:latin typeface="Century Gothic"/>
              </a:rPr>
              <a:t>, </a:t>
            </a:r>
            <a:r>
              <a:rPr lang="en-US" sz="2200" err="1">
                <a:latin typeface="Century Gothic"/>
              </a:rPr>
              <a:t>со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сложным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профилем</a:t>
            </a:r>
            <a:r>
              <a:rPr lang="en-US" sz="22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err="1">
                <a:latin typeface="Century Gothic"/>
              </a:rPr>
              <a:t>Универсальные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пауки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не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обеспечивают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плотной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посадки</a:t>
            </a:r>
            <a:r>
              <a:rPr lang="en-US" sz="2200" dirty="0">
                <a:latin typeface="Century Gothic"/>
              </a:rPr>
              <a:t> и </a:t>
            </a:r>
            <a:r>
              <a:rPr lang="en-US" sz="2200" err="1">
                <a:latin typeface="Century Gothic"/>
              </a:rPr>
              <a:t>теряют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эффективность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виброизоляции</a:t>
            </a:r>
            <a:r>
              <a:rPr lang="en-US" sz="22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err="1">
                <a:latin typeface="Century Gothic"/>
              </a:rPr>
              <a:t>Именно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поэтому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была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выбрана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разработка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индивидуального</a:t>
            </a:r>
            <a:r>
              <a:rPr lang="en-US" sz="2200" dirty="0">
                <a:latin typeface="Century Gothic"/>
              </a:rPr>
              <a:t> </a:t>
            </a:r>
            <a:r>
              <a:rPr lang="en-US" sz="2200" err="1">
                <a:latin typeface="Century Gothic"/>
              </a:rPr>
              <a:t>изделия</a:t>
            </a:r>
            <a:r>
              <a:rPr lang="en-US" sz="22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>
              <a:latin typeface="Century Gothic"/>
            </a:endParaRPr>
          </a:p>
        </p:txBody>
      </p:sp>
      <p:pic>
        <p:nvPicPr>
          <p:cNvPr id="8" name="Объект 7" descr="FIFINE AmpliGame AM8 vs K688 - сравнение: Технические характеристики ·  Функции и разъемы">
            <a:extLst>
              <a:ext uri="{FF2B5EF4-FFF2-40B4-BE49-F238E27FC236}">
                <a16:creationId xmlns:a16="http://schemas.microsoft.com/office/drawing/2014/main" id="{69D6B365-7E63-D39E-E4E7-C83FD6E58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0265" y="633619"/>
            <a:ext cx="3455061" cy="2651760"/>
          </a:xfrm>
          <a:prstGeom prst="rect">
            <a:avLst/>
          </a:prstGeom>
        </p:spPr>
      </p:pic>
      <p:pic>
        <p:nvPicPr>
          <p:cNvPr id="9" name="Рисунок 8" descr="Изображение выглядит как микрофон, Аудиооборуд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25BC08-E8BC-58D2-CCCF-5C81DC8AE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38" y="3472468"/>
            <a:ext cx="2651760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66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77E57D-6A88-4B5B-A068-2BA7FF4E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0EB15-05F8-879E-2673-3B99570A4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02920"/>
            <a:ext cx="10509504" cy="1975104"/>
          </a:xfrm>
        </p:spPr>
        <p:txBody>
          <a:bodyPr anchor="b">
            <a:normAutofit/>
          </a:bodyPr>
          <a:lstStyle/>
          <a:p>
            <a:r>
              <a:rPr lang="ru-RU" sz="5400" dirty="0">
                <a:latin typeface="Century Gothic"/>
              </a:rPr>
              <a:t>2.2.1. Определение посадочных мест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289407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43FFFF-615E-5493-7EB6-02ECE4805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28416"/>
            <a:ext cx="10509504" cy="2715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3200" dirty="0">
                <a:latin typeface="Century Gothic"/>
                <a:ea typeface="+mn-lt"/>
                <a:cs typeface="+mn-lt"/>
              </a:rPr>
              <a:t>Были проведены измерения и зафиксированы:</a:t>
            </a:r>
          </a:p>
          <a:p>
            <a:pPr marL="457200" indent="-457200"/>
            <a:r>
              <a:rPr lang="ru-RU" sz="3200" dirty="0">
                <a:latin typeface="Century Gothic"/>
                <a:ea typeface="+mn-lt"/>
                <a:cs typeface="+mn-lt"/>
              </a:rPr>
              <a:t>максимальные и минимальные диаметры </a:t>
            </a:r>
          </a:p>
          <a:p>
            <a:pPr marL="457200" indent="-457200"/>
            <a:r>
              <a:rPr lang="ru-RU" sz="3200" dirty="0">
                <a:latin typeface="Century Gothic"/>
                <a:ea typeface="+mn-lt"/>
                <a:cs typeface="+mn-lt"/>
              </a:rPr>
              <a:t>высоты </a:t>
            </a:r>
          </a:p>
          <a:p>
            <a:pPr marL="457200" indent="-457200"/>
            <a:r>
              <a:rPr lang="ru-RU" sz="3200" dirty="0">
                <a:latin typeface="Century Gothic"/>
                <a:ea typeface="+mn-lt"/>
                <a:cs typeface="+mn-lt"/>
              </a:rPr>
              <a:t>профили переходов.</a:t>
            </a:r>
            <a:endParaRPr lang="ru-RU" sz="3200">
              <a:latin typeface="Century Gothic"/>
            </a:endParaRPr>
          </a:p>
          <a:p>
            <a:pPr marL="0" indent="0">
              <a:buNone/>
            </a:pP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2272400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228BA6-7A8A-E027-4A58-CD6FD3B69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714" y="523738"/>
            <a:ext cx="6024980" cy="171625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kern="1200" dirty="0">
                <a:latin typeface="Century Gothic"/>
              </a:rPr>
              <a:t>2.2.2. </a:t>
            </a:r>
            <a:br>
              <a:rPr lang="en-US" sz="4800" dirty="0">
                <a:latin typeface="Century Gothic"/>
              </a:rPr>
            </a:br>
            <a:r>
              <a:rPr lang="en-US" sz="4800" dirty="0">
                <a:latin typeface="Century Gothic"/>
              </a:rPr>
              <a:t>3D-моделирование</a:t>
            </a:r>
            <a:endParaRPr lang="en-US" sz="4800" kern="1200" dirty="0">
              <a:latin typeface="Century Gothic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Fusion 360 — Википедия">
            <a:extLst>
              <a:ext uri="{FF2B5EF4-FFF2-40B4-BE49-F238E27FC236}">
                <a16:creationId xmlns:a16="http://schemas.microsoft.com/office/drawing/2014/main" id="{ADA10197-7F41-41D1-3D6C-6CF046315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4488" b="-9"/>
          <a:stretch>
            <a:fillRect/>
          </a:stretch>
        </p:blipFill>
        <p:spPr>
          <a:xfrm>
            <a:off x="279143" y="299508"/>
            <a:ext cx="5221625" cy="3010397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58D990-57E2-6A56-D139-BD11079A1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49" b="606"/>
          <a:stretch>
            <a:fillRect/>
          </a:stretch>
        </p:blipFill>
        <p:spPr>
          <a:xfrm>
            <a:off x="279143" y="3548095"/>
            <a:ext cx="5221625" cy="301039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89F0C90-CE73-B28B-A026-A0B4128C7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Моделирование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выполнялось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в Fusion 360.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Для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точного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воспроизведения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сложной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формы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AM8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сделана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форма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 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фотографии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 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микрофона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строго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ортогонально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 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сзади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,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после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отрегулированнаяпо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реальным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размерам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Этот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метод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позволил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построить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посадку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,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повторяющую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геометрию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микрофона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с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высокой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точностью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494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C76B9-F4D3-41A5-91ED-E030DE22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548640"/>
            <a:ext cx="4259228" cy="5431536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entury Gothic"/>
              </a:rPr>
              <a:t>2.2.3. Выбор материала (</a:t>
            </a:r>
            <a:r>
              <a:rPr lang="en-US" sz="5400" dirty="0">
                <a:latin typeface="Century Gothic"/>
              </a:rPr>
              <a:t>PETG)</a:t>
            </a:r>
            <a:endParaRPr lang="ru-RU" sz="5400" dirty="0">
              <a:latin typeface="Century Gothic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51EC6578-AD92-B1A3-5118-F3BE6E9CA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entury Gothic"/>
                <a:ea typeface="+mn-lt"/>
                <a:cs typeface="+mn-lt"/>
              </a:rPr>
              <a:t>PETG</a:t>
            </a:r>
            <a:r>
              <a:rPr lang="ru-RU" dirty="0">
                <a:latin typeface="Century Gothic"/>
                <a:ea typeface="+mn-lt"/>
                <a:cs typeface="+mn-lt"/>
              </a:rPr>
              <a:t> выбран из-за:</a:t>
            </a:r>
            <a:endParaRPr lang="ru-RU">
              <a:latin typeface="Century Gothic"/>
            </a:endParaRPr>
          </a:p>
          <a:p>
            <a:r>
              <a:rPr lang="ru-RU" dirty="0">
                <a:latin typeface="Century Gothic"/>
                <a:ea typeface="+mn-lt"/>
                <a:cs typeface="+mn-lt"/>
              </a:rPr>
              <a:t> ударной вязкости,</a:t>
            </a:r>
            <a:endParaRPr lang="ru-RU">
              <a:latin typeface="Century Gothic"/>
            </a:endParaRPr>
          </a:p>
          <a:p>
            <a:r>
              <a:rPr lang="ru-RU" dirty="0">
                <a:latin typeface="Century Gothic"/>
                <a:ea typeface="+mn-lt"/>
                <a:cs typeface="+mn-lt"/>
              </a:rPr>
              <a:t> межслойной прочности,</a:t>
            </a:r>
            <a:endParaRPr lang="ru-RU">
              <a:latin typeface="Century Gothic"/>
            </a:endParaRPr>
          </a:p>
          <a:p>
            <a:r>
              <a:rPr lang="ru-RU" dirty="0">
                <a:latin typeface="Century Gothic"/>
                <a:ea typeface="+mn-lt"/>
                <a:cs typeface="+mn-lt"/>
              </a:rPr>
              <a:t> термостойкости,</a:t>
            </a:r>
            <a:endParaRPr lang="ru-RU">
              <a:latin typeface="Century Gothic"/>
            </a:endParaRPr>
          </a:p>
          <a:p>
            <a:r>
              <a:rPr lang="ru-RU" dirty="0">
                <a:latin typeface="Century Gothic"/>
                <a:ea typeface="+mn-lt"/>
                <a:cs typeface="+mn-lt"/>
              </a:rPr>
              <a:t> минимальной усадки</a:t>
            </a:r>
            <a:r>
              <a:rPr lang="ru-RU" sz="2200" dirty="0">
                <a:latin typeface="Century Gothic"/>
                <a:ea typeface="+mn-lt"/>
                <a:cs typeface="+mn-lt"/>
              </a:rPr>
              <a:t>.</a:t>
            </a:r>
            <a:endParaRPr lang="ru-RU" sz="2200">
              <a:latin typeface="Century Gothic"/>
            </a:endParaRPr>
          </a:p>
          <a:p>
            <a:endParaRPr lang="ru-RU" sz="2200" dirty="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6222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58BC00-CE10-213D-8A60-4BDC65948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67" y="4766695"/>
            <a:ext cx="4180989" cy="1412119"/>
          </a:xfrm>
        </p:spPr>
        <p:txBody>
          <a:bodyPr vert="horz" lIns="91440" tIns="45720" rIns="91440" bIns="45720" rtlCol="0" anchor="ctr">
            <a:noAutofit/>
          </a:bodyPr>
          <a:lstStyle/>
          <a:p>
            <a:endParaRPr lang="en-US" sz="3500" dirty="0">
              <a:latin typeface="Century Gothic"/>
            </a:endParaRPr>
          </a:p>
          <a:p>
            <a:r>
              <a:rPr lang="ru-RU" sz="3500" dirty="0">
                <a:latin typeface="Century Gothic"/>
              </a:rPr>
              <a:t>2.4. Настройка оборудования</a:t>
            </a:r>
          </a:p>
        </p:txBody>
      </p:sp>
      <p:pic>
        <p:nvPicPr>
          <p:cNvPr id="5" name="Объект 4" descr="Изображение выглядит как текст, снимок экрана, Графическое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DBEACD-1794-8FC0-661C-BB29D4CEB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880" b="8715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91F1F5-7B22-DC59-225D-4040E54A6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3251" y="4921304"/>
            <a:ext cx="6897626" cy="1399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500" err="1">
                <a:latin typeface="Century Gothic"/>
              </a:rPr>
              <a:t>Печать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выполнена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на</a:t>
            </a:r>
            <a:r>
              <a:rPr lang="en-US" sz="1500" dirty="0">
                <a:latin typeface="Century Gothic"/>
              </a:rPr>
              <a:t> Neptune 4 Pro.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500" err="1">
                <a:latin typeface="Century Gothic"/>
              </a:rPr>
              <a:t>Основные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параметры</a:t>
            </a:r>
            <a:r>
              <a:rPr lang="en-US" sz="1500" dirty="0">
                <a:latin typeface="Century Gothic"/>
              </a:rPr>
              <a:t> — 240–250 °C </a:t>
            </a:r>
            <a:r>
              <a:rPr lang="en-US" sz="1500" err="1">
                <a:latin typeface="Century Gothic"/>
              </a:rPr>
              <a:t>сопло</a:t>
            </a:r>
            <a:r>
              <a:rPr lang="en-US" sz="1500" dirty="0">
                <a:latin typeface="Century Gothic"/>
              </a:rPr>
              <a:t>, 80 °C </a:t>
            </a:r>
            <a:r>
              <a:rPr lang="en-US" sz="1500" err="1">
                <a:latin typeface="Century Gothic"/>
              </a:rPr>
              <a:t>стол</a:t>
            </a:r>
            <a:r>
              <a:rPr lang="en-US" sz="1500" dirty="0">
                <a:latin typeface="Century Gothic"/>
              </a:rPr>
              <a:t>, </a:t>
            </a:r>
            <a:r>
              <a:rPr lang="en-US" sz="1500" err="1">
                <a:latin typeface="Century Gothic"/>
              </a:rPr>
              <a:t>слой</a:t>
            </a:r>
            <a:r>
              <a:rPr lang="en-US" sz="1500" dirty="0">
                <a:latin typeface="Century Gothic"/>
              </a:rPr>
              <a:t> 0,2 </a:t>
            </a:r>
            <a:r>
              <a:rPr lang="en-US" sz="1500" err="1">
                <a:latin typeface="Century Gothic"/>
              </a:rPr>
              <a:t>мм</a:t>
            </a:r>
            <a:r>
              <a:rPr lang="en-US" sz="1500" dirty="0"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500" err="1">
                <a:latin typeface="Century Gothic"/>
              </a:rPr>
              <a:t>Дополнительно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настроены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ретракты</a:t>
            </a:r>
            <a:r>
              <a:rPr lang="en-US" sz="1500" dirty="0">
                <a:latin typeface="Century Gothic"/>
              </a:rPr>
              <a:t> и Pressure Advance, </a:t>
            </a:r>
            <a:r>
              <a:rPr lang="en-US" sz="1500" err="1">
                <a:latin typeface="Century Gothic"/>
              </a:rPr>
              <a:t>чтобы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избежать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появления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нитей</a:t>
            </a:r>
            <a:r>
              <a:rPr lang="en-US" sz="1500" dirty="0">
                <a:latin typeface="Century Gothic"/>
              </a:rPr>
              <a:t>, </a:t>
            </a:r>
            <a:r>
              <a:rPr lang="en-US" sz="1500" err="1">
                <a:latin typeface="Century Gothic"/>
              </a:rPr>
              <a:t>характерных</a:t>
            </a:r>
            <a:r>
              <a:rPr lang="en-US" sz="1500" dirty="0">
                <a:latin typeface="Century Gothic"/>
              </a:rPr>
              <a:t> </a:t>
            </a:r>
            <a:r>
              <a:rPr lang="en-US" sz="1500" err="1">
                <a:latin typeface="Century Gothic"/>
              </a:rPr>
              <a:t>для</a:t>
            </a:r>
            <a:r>
              <a:rPr lang="en-US" sz="1500" dirty="0">
                <a:latin typeface="Century Gothic"/>
              </a:rPr>
              <a:t> PETG.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671047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30774-E227-6A7A-50F7-75A36D50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5211673" cy="20525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latin typeface="Century Gothic"/>
              </a:rPr>
              <a:t>2.2.5. </a:t>
            </a:r>
            <a:r>
              <a:rPr lang="en-US" sz="4800" err="1">
                <a:latin typeface="Century Gothic"/>
              </a:rPr>
              <a:t>Постобработка</a:t>
            </a:r>
            <a:endParaRPr lang="en-US" sz="4800">
              <a:latin typeface="Century 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Изображение выглядит как текст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6B8C2A-70E2-C926-B3F0-E467EA832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187" r="2" b="13814"/>
          <a:stretch>
            <a:fillRect/>
          </a:stretch>
        </p:blipFill>
        <p:spPr>
          <a:xfrm>
            <a:off x="593766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4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C4C1B2-CBE5-B7FE-DF2F-C2BFC9EF2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57715" y="2990818"/>
            <a:ext cx="4769933" cy="28917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Были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выполнены</a:t>
            </a:r>
            <a:r>
              <a:rPr lang="en-US" sz="2500">
                <a:solidFill>
                  <a:schemeClr val="tx1">
                    <a:alpha val="80000"/>
                  </a:schemeClr>
                </a:solidFill>
                <a:latin typeface="Century Gothic"/>
              </a:rPr>
              <a:t>:</a:t>
            </a:r>
            <a:endParaRPr lang="ru-RU" sz="2500">
              <a:solidFill>
                <a:schemeClr val="tx1">
                  <a:alpha val="80000"/>
                </a:schemeClr>
              </a:solidFill>
              <a:latin typeface="Century Gothic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Зачистка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 </a:t>
            </a: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каймы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Корректировка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геометрии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посадки</a:t>
            </a:r>
            <a:endParaRPr lang="en-US" sz="2500">
              <a:solidFill>
                <a:schemeClr val="tx1">
                  <a:alpha val="80000"/>
                </a:schemeClr>
              </a:solidFill>
              <a:latin typeface="Century Gothic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Контроль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плотности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установки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 </a:t>
            </a:r>
            <a:r>
              <a:rPr lang="en-US" sz="2500" err="1">
                <a:solidFill>
                  <a:schemeClr val="tx1">
                    <a:alpha val="80000"/>
                  </a:schemeClr>
                </a:solidFill>
                <a:latin typeface="Century Gothic"/>
              </a:rPr>
              <a:t>микрофона</a:t>
            </a:r>
            <a:r>
              <a:rPr lang="en-US" sz="25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8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901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08F42-7E2F-9DD6-37E2-2AD54E04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latin typeface="Century Gothic"/>
              </a:rPr>
              <a:t>2.2.6. </a:t>
            </a:r>
            <a:r>
              <a:rPr lang="en-US" sz="4000" err="1">
                <a:latin typeface="Century Gothic"/>
              </a:rPr>
              <a:t>Испытания</a:t>
            </a:r>
            <a:r>
              <a:rPr lang="en-US" sz="4000" dirty="0">
                <a:latin typeface="Century Gothic"/>
              </a:rPr>
              <a:t> </a:t>
            </a:r>
            <a:r>
              <a:rPr lang="en-US" sz="4000" err="1">
                <a:latin typeface="Century Gothic"/>
              </a:rPr>
              <a:t>изделия</a:t>
            </a:r>
            <a:endParaRPr lang="en-US" sz="4000">
              <a:latin typeface="Century Gothic"/>
            </a:endParaRPr>
          </a:p>
        </p:txBody>
      </p:sp>
      <p:pic>
        <p:nvPicPr>
          <p:cNvPr id="5" name="Объект 4" descr="Изображение выглядит как машина, Научный прибор, Наушники, Медицинское оборуд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2BADDD-61EB-643B-A862-83B551298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56" r="9435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3BFBAEC-BC66-C752-37EE-6447454AD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7734" y="2614612"/>
            <a:ext cx="5291663" cy="37528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err="1">
                <a:latin typeface="Century Gothic"/>
              </a:rPr>
              <a:t>Тестирование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на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стойке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показало</a:t>
            </a:r>
            <a:r>
              <a:rPr lang="en-US" sz="2500" dirty="0">
                <a:latin typeface="Century Gothic"/>
              </a:rPr>
              <a:t>:</a:t>
            </a:r>
            <a:endParaRPr lang="ru-RU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500" err="1">
                <a:latin typeface="Century Gothic"/>
              </a:rPr>
              <a:t>эффективную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виброизоляцию</a:t>
            </a:r>
            <a:r>
              <a:rPr lang="en-US" sz="2500" dirty="0">
                <a:latin typeface="Century Gothic"/>
              </a:rPr>
              <a:t>,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500" dirty="0" err="1">
                <a:latin typeface="Century Gothic"/>
              </a:rPr>
              <a:t>отсутствие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dirty="0" err="1">
                <a:latin typeface="Century Gothic"/>
              </a:rPr>
              <a:t>смещений</a:t>
            </a:r>
            <a:r>
              <a:rPr lang="en-US" sz="2500" dirty="0">
                <a:latin typeface="Century Gothic"/>
              </a:rPr>
              <a:t>,</a:t>
            </a:r>
          </a:p>
          <a:p>
            <a:pPr marL="285750" indent="-228600">
              <a:buFont typeface="Arial"/>
              <a:buChar char="•"/>
            </a:pPr>
            <a:r>
              <a:rPr lang="en-US" sz="2500" err="1">
                <a:latin typeface="Century Gothic"/>
              </a:rPr>
              <a:t>устойчивость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конструкции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под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err="1">
                <a:latin typeface="Century Gothic"/>
              </a:rPr>
              <a:t>нагрузками</a:t>
            </a:r>
            <a:r>
              <a:rPr lang="en-US" sz="2500" dirty="0">
                <a:latin typeface="Century Gothic"/>
              </a:rPr>
              <a:t>,</a:t>
            </a:r>
          </a:p>
          <a:p>
            <a:pPr marL="171450" indent="-228600">
              <a:buFont typeface="Arial" panose="020B0604020202020204" pitchFamily="34" charset="0"/>
              <a:buChar char="•"/>
            </a:pPr>
            <a:r>
              <a:rPr lang="en-US" sz="2500" dirty="0" err="1">
                <a:latin typeface="Century Gothic"/>
              </a:rPr>
              <a:t>улучшение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dirty="0" err="1">
                <a:latin typeface="Century Gothic"/>
              </a:rPr>
              <a:t>чистоты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dirty="0" err="1">
                <a:latin typeface="Century Gothic"/>
              </a:rPr>
              <a:t>звука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dirty="0" err="1">
                <a:latin typeface="Century Gothic"/>
              </a:rPr>
              <a:t>при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dirty="0" err="1">
                <a:latin typeface="Century Gothic"/>
              </a:rPr>
              <a:t>реальной</a:t>
            </a:r>
            <a:r>
              <a:rPr lang="en-US" sz="2500" dirty="0">
                <a:latin typeface="Century Gothic"/>
              </a:rPr>
              <a:t> </a:t>
            </a:r>
            <a:r>
              <a:rPr lang="en-US" sz="2500" dirty="0" err="1">
                <a:latin typeface="Century Gothic"/>
              </a:rPr>
              <a:t>записи</a:t>
            </a:r>
            <a:endParaRPr lang="en-US" sz="2500" dirty="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7783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EDB8D-D556-780B-A255-E4544E00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39" y="437152"/>
            <a:ext cx="5024582" cy="5919197"/>
          </a:xfrm>
        </p:spPr>
        <p:txBody>
          <a:bodyPr anchor="ctr">
            <a:normAutofit/>
          </a:bodyPr>
          <a:lstStyle/>
          <a:p>
            <a:r>
              <a:rPr lang="ru-RU" sz="3800" dirty="0">
                <a:solidFill>
                  <a:srgbClr val="FFFFFF"/>
                </a:solidFill>
                <a:latin typeface="Century Gothic"/>
                <a:ea typeface="+mj-lt"/>
                <a:cs typeface="+mj-lt"/>
              </a:rPr>
              <a:t>3. Экономический раздел</a:t>
            </a:r>
            <a:endParaRPr lang="ru-RU" sz="3800" dirty="0">
              <a:solidFill>
                <a:srgbClr val="FFFFFF"/>
              </a:solidFill>
              <a:latin typeface="Century Gothic"/>
            </a:endParaRPr>
          </a:p>
          <a:p>
            <a:br>
              <a:rPr lang="ru-RU" sz="3800" dirty="0">
                <a:latin typeface="Century Gothic"/>
              </a:rPr>
            </a:br>
            <a:r>
              <a:rPr lang="ru-RU" sz="3800" dirty="0">
                <a:solidFill>
                  <a:srgbClr val="FFFFFF"/>
                </a:solidFill>
                <a:latin typeface="Century Gothic"/>
              </a:rPr>
              <a:t>3.1. Себестоимость</a:t>
            </a:r>
          </a:p>
        </p:txBody>
      </p:sp>
      <p:grpSp>
        <p:nvGrpSpPr>
          <p:cNvPr id="50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DAA71D-67A8-1AC3-9940-DB1B5515C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30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Итоговая стоимость изготовления — примерно 103 рубля:</a:t>
            </a:r>
            <a:endParaRPr lang="ru-RU" sz="3000" dirty="0">
              <a:solidFill>
                <a:schemeClr val="tx1">
                  <a:alpha val="80000"/>
                </a:schemeClr>
              </a:solidFill>
              <a:latin typeface="Century Gothic"/>
            </a:endParaRPr>
          </a:p>
          <a:p>
            <a:r>
              <a:rPr lang="en-US" sz="3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PETG</a:t>
            </a:r>
            <a:endParaRPr lang="ru-RU" sz="3000" dirty="0">
              <a:solidFill>
                <a:schemeClr val="tx1">
                  <a:alpha val="80000"/>
                </a:schemeClr>
              </a:solidFill>
              <a:latin typeface="Century Gothic"/>
            </a:endParaRPr>
          </a:p>
          <a:p>
            <a:r>
              <a:rPr lang="ru-RU" sz="3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Электроэнергия</a:t>
            </a:r>
          </a:p>
          <a:p>
            <a:r>
              <a:rPr lang="ru-RU" sz="3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Амортизация</a:t>
            </a:r>
          </a:p>
          <a:p>
            <a:r>
              <a:rPr lang="ru-RU" sz="3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Комплект резинок</a:t>
            </a:r>
          </a:p>
        </p:txBody>
      </p:sp>
      <p:cxnSp>
        <p:nvCxnSpPr>
          <p:cNvPr id="52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652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46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FE3B2-2A82-ED84-06EB-D02425DE1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Century Gothic"/>
              </a:rPr>
              <a:t>3.2. </a:t>
            </a:r>
            <a:r>
              <a:rPr lang="en-US" err="1">
                <a:latin typeface="Century Gothic"/>
              </a:rPr>
              <a:t>Инвестиционный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анализ</a:t>
            </a:r>
            <a:endParaRPr lang="en-US">
              <a:latin typeface="Century Gothic"/>
            </a:endParaRPr>
          </a:p>
        </p:txBody>
      </p:sp>
      <p:sp>
        <p:nvSpPr>
          <p:cNvPr id="55" name="Rectangle 4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Объект 12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379286-16EE-FD6E-7A98-7531628E0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890" b="19802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AF0B17-1D14-360B-2155-3ED639224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2719" y="4883544"/>
            <a:ext cx="6586915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err="1">
                <a:latin typeface="Century Gothic"/>
              </a:rPr>
              <a:t>Рыночная</a:t>
            </a:r>
            <a:r>
              <a:rPr lang="en-US" sz="1800" dirty="0">
                <a:latin typeface="Century Gothic"/>
              </a:rPr>
              <a:t> </a:t>
            </a:r>
            <a:r>
              <a:rPr lang="en-US" sz="1800" err="1">
                <a:latin typeface="Century Gothic"/>
              </a:rPr>
              <a:t>цена</a:t>
            </a:r>
            <a:r>
              <a:rPr lang="en-US" sz="1800" dirty="0">
                <a:latin typeface="Century Gothic"/>
              </a:rPr>
              <a:t> </a:t>
            </a:r>
            <a:r>
              <a:rPr lang="en-US" sz="1800" err="1">
                <a:latin typeface="Century Gothic"/>
              </a:rPr>
              <a:t>пауков</a:t>
            </a:r>
            <a:r>
              <a:rPr lang="en-US" sz="1800" dirty="0">
                <a:latin typeface="Century Gothic"/>
              </a:rPr>
              <a:t> — 800–2500 </a:t>
            </a:r>
            <a:r>
              <a:rPr lang="en-US" sz="1800" err="1">
                <a:latin typeface="Century Gothic"/>
              </a:rPr>
              <a:t>рублей</a:t>
            </a:r>
            <a:r>
              <a:rPr lang="en-US" sz="1800" dirty="0">
                <a:latin typeface="Century Gothic"/>
              </a:rPr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err="1">
                <a:latin typeface="Century Gothic"/>
              </a:rPr>
              <a:t>Экономия</a:t>
            </a:r>
            <a:r>
              <a:rPr lang="en-US" sz="1800" dirty="0">
                <a:latin typeface="Century Gothic"/>
              </a:rPr>
              <a:t> — </a:t>
            </a:r>
            <a:r>
              <a:rPr lang="en-US" sz="1800" err="1">
                <a:latin typeface="Century Gothic"/>
              </a:rPr>
              <a:t>до</a:t>
            </a:r>
            <a:r>
              <a:rPr lang="en-US" sz="1800" dirty="0">
                <a:latin typeface="Century Gothic"/>
              </a:rPr>
              <a:t> 25 </a:t>
            </a:r>
            <a:r>
              <a:rPr lang="en-US" sz="1800" err="1">
                <a:latin typeface="Century Gothic"/>
              </a:rPr>
              <a:t>раз</a:t>
            </a:r>
            <a:r>
              <a:rPr lang="en-US" sz="1800" dirty="0">
                <a:latin typeface="Century Gothic"/>
              </a:rPr>
              <a:t>.</a:t>
            </a:r>
          </a:p>
          <a:p>
            <a:pPr marL="171450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entury Gothic"/>
              </a:rPr>
              <a:t>Функциональность </a:t>
            </a:r>
            <a:r>
              <a:rPr lang="en-US" sz="1800" err="1">
                <a:latin typeface="Century Gothic"/>
              </a:rPr>
              <a:t>выше</a:t>
            </a:r>
            <a:r>
              <a:rPr lang="en-US" sz="1800" dirty="0">
                <a:latin typeface="Century Gothic"/>
              </a:rPr>
              <a:t>, </a:t>
            </a:r>
            <a:r>
              <a:rPr lang="en-US" sz="1800" err="1">
                <a:latin typeface="Century Gothic"/>
              </a:rPr>
              <a:t>так</a:t>
            </a:r>
            <a:r>
              <a:rPr lang="en-US" sz="1800" dirty="0">
                <a:latin typeface="Century Gothic"/>
              </a:rPr>
              <a:t> </a:t>
            </a:r>
            <a:r>
              <a:rPr lang="en-US" sz="1800" err="1">
                <a:latin typeface="Century Gothic"/>
              </a:rPr>
              <a:t>как</a:t>
            </a:r>
            <a:r>
              <a:rPr lang="en-US" sz="1800" dirty="0">
                <a:latin typeface="Century Gothic"/>
              </a:rPr>
              <a:t> </a:t>
            </a:r>
            <a:r>
              <a:rPr lang="en-US" sz="1800" err="1">
                <a:latin typeface="Century Gothic"/>
              </a:rPr>
              <a:t>модель</a:t>
            </a:r>
            <a:r>
              <a:rPr lang="en-US" sz="1800" dirty="0">
                <a:latin typeface="Century Gothic"/>
              </a:rPr>
              <a:t> </a:t>
            </a:r>
            <a:r>
              <a:rPr lang="en-US" sz="1800" err="1">
                <a:latin typeface="Century Gothic"/>
              </a:rPr>
              <a:t>адаптирована</a:t>
            </a:r>
            <a:r>
              <a:rPr lang="en-US" sz="1800" dirty="0">
                <a:latin typeface="Century Gothic"/>
              </a:rPr>
              <a:t> </a:t>
            </a:r>
            <a:r>
              <a:rPr lang="en-US" sz="1800" err="1">
                <a:latin typeface="Century Gothic"/>
              </a:rPr>
              <a:t>под</a:t>
            </a:r>
            <a:r>
              <a:rPr lang="en-US" sz="1800" dirty="0">
                <a:latin typeface="Century Gothic"/>
              </a:rPr>
              <a:t> </a:t>
            </a:r>
            <a:r>
              <a:rPr lang="en-US" sz="1800" err="1">
                <a:latin typeface="Century Gothic"/>
              </a:rPr>
              <a:t>конкретный</a:t>
            </a:r>
            <a:r>
              <a:rPr lang="en-US" sz="1800" dirty="0">
                <a:latin typeface="Century Gothic"/>
              </a:rPr>
              <a:t> </a:t>
            </a:r>
            <a:r>
              <a:rPr lang="en-US" sz="1800" err="1">
                <a:latin typeface="Century Gothic"/>
              </a:rPr>
              <a:t>микрофон</a:t>
            </a:r>
            <a:endParaRPr lang="en-US" sz="180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69979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A97CF-1A96-CC1F-554B-3C6B60F1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Century Gothic"/>
              </a:rPr>
              <a:t>3.3. Сравнение с аналогами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AA8ACE-6F9D-EC9E-D22E-2A556D3FF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3500" dirty="0">
                <a:latin typeface="Century Gothic"/>
                <a:ea typeface="+mn-lt"/>
                <a:cs typeface="+mn-lt"/>
              </a:rPr>
              <a:t>Преимущества моего изделия:</a:t>
            </a:r>
            <a:endParaRPr lang="ru-RU" sz="3500" dirty="0">
              <a:latin typeface="Century Gothic"/>
            </a:endParaRPr>
          </a:p>
          <a:p>
            <a:r>
              <a:rPr lang="ru-RU" sz="3500" dirty="0">
                <a:latin typeface="Century Gothic"/>
                <a:ea typeface="+mn-lt"/>
                <a:cs typeface="+mn-lt"/>
              </a:rPr>
              <a:t>точная совместимость,</a:t>
            </a:r>
            <a:endParaRPr lang="ru-RU" sz="3500" dirty="0">
              <a:latin typeface="Century Gothic"/>
            </a:endParaRPr>
          </a:p>
          <a:p>
            <a:r>
              <a:rPr lang="ru-RU" sz="3500" dirty="0">
                <a:latin typeface="Century Gothic"/>
                <a:ea typeface="+mn-lt"/>
                <a:cs typeface="+mn-lt"/>
              </a:rPr>
              <a:t> низкая стоимость,</a:t>
            </a:r>
            <a:endParaRPr lang="ru-RU" sz="3500" dirty="0">
              <a:latin typeface="Century Gothic"/>
            </a:endParaRPr>
          </a:p>
          <a:p>
            <a:r>
              <a:rPr lang="ru-RU" sz="3500" dirty="0">
                <a:latin typeface="Century Gothic"/>
                <a:ea typeface="+mn-lt"/>
                <a:cs typeface="+mn-lt"/>
              </a:rPr>
              <a:t>высокая виброизоляция,</a:t>
            </a:r>
            <a:endParaRPr lang="ru-RU" sz="3500" dirty="0">
              <a:latin typeface="Century Gothic"/>
            </a:endParaRPr>
          </a:p>
          <a:p>
            <a:r>
              <a:rPr lang="ru-RU" sz="3500" dirty="0">
                <a:latin typeface="Century Gothic"/>
              </a:rPr>
              <a:t> возможность изменять конструкцию в будущем</a:t>
            </a:r>
          </a:p>
        </p:txBody>
      </p:sp>
    </p:spTree>
    <p:extLst>
      <p:ext uri="{BB962C8B-B14F-4D97-AF65-F5344CB8AC3E}">
        <p14:creationId xmlns:p14="http://schemas.microsoft.com/office/powerpoint/2010/main" val="3758262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C95C7-6079-153A-61A6-6D12955A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39" y="381935"/>
            <a:ext cx="4803713" cy="5974414"/>
          </a:xfrm>
        </p:spPr>
        <p:txBody>
          <a:bodyPr anchor="ctr">
            <a:normAutofit/>
          </a:bodyPr>
          <a:lstStyle/>
          <a:p>
            <a:r>
              <a:rPr lang="ru-RU" sz="5600" dirty="0">
                <a:solidFill>
                  <a:srgbClr val="FFFFFF"/>
                </a:solidFill>
                <a:latin typeface="Century Gothic"/>
              </a:rPr>
              <a:t>Заключение</a:t>
            </a:r>
          </a:p>
        </p:txBody>
      </p:sp>
      <p:grpSp>
        <p:nvGrpSpPr>
          <p:cNvPr id="19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051AEF-A63A-96D9-4A3F-08048306D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В рамках проекта был разработан и изготовлен полностью функциональный паук для микрофона 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Fifine AM</a:t>
            </a:r>
            <a:r>
              <a:rPr lang="ru-RU" sz="20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8.</a:t>
            </a:r>
            <a:endParaRPr lang="ru-RU" sz="2000" dirty="0">
              <a:solidFill>
                <a:schemeClr val="tx1">
                  <a:alpha val="80000"/>
                </a:schemeClr>
              </a:solidFill>
              <a:latin typeface="Century Gothic"/>
            </a:endParaRPr>
          </a:p>
          <a:p>
            <a:r>
              <a:rPr lang="ru-RU" sz="2000" dirty="0">
                <a:solidFill>
                  <a:schemeClr val="tx1">
                    <a:alpha val="80000"/>
                  </a:schemeClr>
                </a:solidFill>
                <a:latin typeface="Century Gothic"/>
                <a:ea typeface="+mn-lt"/>
                <a:cs typeface="+mn-lt"/>
              </a:rPr>
              <a:t>Полученное изделие эффективно гасит вибрации, имеет низкую себестоимость и превосходит универсальные аналоги по точности и функциональности.</a:t>
            </a:r>
            <a:endParaRPr lang="ru-RU" sz="2000" dirty="0">
              <a:solidFill>
                <a:schemeClr val="tx1">
                  <a:alpha val="80000"/>
                </a:schemeClr>
              </a:solidFill>
              <a:latin typeface="Century Gothic"/>
            </a:endParaRPr>
          </a:p>
          <a:p>
            <a:r>
              <a:rPr lang="ru-RU" sz="2000" dirty="0">
                <a:solidFill>
                  <a:schemeClr val="tx1">
                    <a:alpha val="80000"/>
                  </a:schemeClr>
                </a:solidFill>
                <a:latin typeface="Century Gothic"/>
              </a:rPr>
              <a:t>Работа охватила полный цикл — от анализа и моделирования до печати и испытаний, что подтверждает практическую ценность проекта</a:t>
            </a:r>
          </a:p>
          <a:p>
            <a:endParaRPr lang="ru-RU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56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A9E0F-ECBE-986F-3421-CD3B1430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987" y="4118708"/>
            <a:ext cx="6023708" cy="51327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7400" kern="1200" err="1">
                <a:solidFill>
                  <a:srgbClr val="FFFFFF"/>
                </a:solidFill>
                <a:latin typeface="Century Gothic"/>
              </a:rPr>
              <a:t>Спасибо</a:t>
            </a:r>
            <a:r>
              <a:rPr lang="en-US" sz="7400" kern="12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7400" kern="1200" err="1">
                <a:solidFill>
                  <a:srgbClr val="FFFFFF"/>
                </a:solidFill>
                <a:latin typeface="Century Gothic"/>
              </a:rPr>
              <a:t>за</a:t>
            </a:r>
            <a:r>
              <a:rPr lang="en-US" sz="7400" kern="1200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7400" kern="1200" err="1">
                <a:solidFill>
                  <a:srgbClr val="FFFFFF"/>
                </a:solidFill>
                <a:latin typeface="Century Gothic"/>
              </a:rPr>
              <a:t>внимание</a:t>
            </a:r>
            <a:r>
              <a:rPr lang="en-US" sz="7400" kern="1200" dirty="0">
                <a:solidFill>
                  <a:srgbClr val="FFFFFF"/>
                </a:solidFill>
                <a:latin typeface="Century Gothic"/>
              </a:rPr>
              <a:t>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9173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647</Words>
  <Application>Microsoft Office PowerPoint</Application>
  <PresentationFormat>Широкоэкранный</PresentationFormat>
  <Paragraphs>92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Century Gothic</vt:lpstr>
      <vt:lpstr>Тема Office</vt:lpstr>
      <vt:lpstr>КУРСОВОЙ ПРОЕКТ Разработка и создание ПАУКА для микрофона  </vt:lpstr>
      <vt:lpstr>Введение</vt:lpstr>
      <vt:lpstr>1.1. Процесс FDM</vt:lpstr>
      <vt:lpstr>1.2. Материалы FDM</vt:lpstr>
      <vt:lpstr>1.3. Преимущества и недостатки FDM</vt:lpstr>
      <vt:lpstr>1.4. Примеры изделий</vt:lpstr>
      <vt:lpstr>1.5. Оборудование FDM</vt:lpstr>
      <vt:lpstr>2.1. Описание изделия</vt:lpstr>
      <vt:lpstr>2.1.1. Функциональные требования</vt:lpstr>
      <vt:lpstr>2.1.2. Анализ аналогов</vt:lpstr>
      <vt:lpstr>2.2.1. Определение посадочных мест</vt:lpstr>
      <vt:lpstr>2.2.2.  3D-моделирование</vt:lpstr>
      <vt:lpstr>2.2.3. Выбор материала (PETG)</vt:lpstr>
      <vt:lpstr> 2.4. Настройка оборудования</vt:lpstr>
      <vt:lpstr>2.2.5. Постобработка</vt:lpstr>
      <vt:lpstr>2.2.6. Испытания изделия</vt:lpstr>
      <vt:lpstr>3. Экономический раздел  3.1. Себестоимость</vt:lpstr>
      <vt:lpstr>3.2. Инвестиционный анализ</vt:lpstr>
      <vt:lpstr>3.3. Сравнение с аналогами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Kirill Musin</dc:creator>
  <cp:lastModifiedBy>Kirill Musin</cp:lastModifiedBy>
  <cp:revision>324</cp:revision>
  <dcterms:created xsi:type="dcterms:W3CDTF">2025-12-13T00:08:27Z</dcterms:created>
  <dcterms:modified xsi:type="dcterms:W3CDTF">2025-12-16T17:04:10Z</dcterms:modified>
</cp:coreProperties>
</file>